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number, not the model. Almost one in five Oberry members go quiet for two straight months before anyone notices — that's the definition of churn we used throughout. Right now, 2,260 members are already flagged as high-risk by the system, and between them they represent about 5.4 million baht a year in spend. This talk is about how we found them in time to do something about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system in one line, and this screenshot is the actual live dashboard, not a mockup — the Oberry Member Retention Radar. Every number on it reads straight from the same database this pipeline writes to. The operator sees who's flagged, why, and what to do about it, sorted by how much value is on the 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split wasn't hand-picked — it's k-means clustering on recency, frequency, and spend, and the model chose five groups on its own. Position on the chart is recency and visit frequency; bubble size is how much each group spends. Champions are small in number but huge in value. At-risk regulars are the biggest group of all, at 32 percent — that's the group where a small improvement in retention pays for the whole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models, tested the honest way: trained on an earlier three-month window, tested on a later one the model never saw, not a random shuffle that would leak the answer. XGBoost beats plain logistic regression, but the logistic regression is respectably close — that's a good sign the signal is real, not an artifact of a complex model overfitting. The confusion matrix uses plain labels on purpose: caught churn, missed churn, false alarm, true stay. We chose the threshold to maximize how many leavers we catch, while keeping false alarms low enough that the win-back coupon stays a genuine signal instead of spam.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ranks features by how much they actually move the model's prediction, averaged across every member. The two at the top — recency and gap trend — are exactly what the café-specific design of this project was built to catch: not just 'when did they last visit,' but 'has their rhythm already started to change.' The redemption finding is the actionable one for marketing: a member who's never redeemed a point never felt the loyalty program actually reward them, and they leave for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 table is deliberately not one-size-fits-all: a Champion at risk gets recognition, not a discount, because they don't need convincing to spend — they need to feel seen. Hibernating members get the biggest incentive because they're the hardest and most expensive to win back once fully gone. The example at the bottom is a real flagged member from the current run — the highest-value one — with the actual reasons the model gave and the exact action it recommends.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slow down on. The funnel shows the honest scope: twenty thousand members, fourteen thousand three hundred of them scored by the model, twenty-two sixty flagged today, representing about 5.4 million baht a year in spend. We have not measured what fraction of those we'd actually retain with these campaigns — that requires running them against real members and measuring what happens, which is exactly the next phase. Everything up to this point is a working prototype on synthetic data. The architecture, the leak-free evaluation, the explainability — that's all real and reusable. What's left is proving it on Oberry's actual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435"/>
        </a:solidFill>
        <a:effectLst/>
      </p:bgPr>
    </p:bg>
    <p:spTree>
      <p:nvGrpSpPr>
        <p:cNvPr id="1" name=""/>
        <p:cNvGrpSpPr/>
        <p:nvPr/>
      </p:nvGrpSpPr>
      <p:grpSpPr/>
      <p:sp>
        <p:nvSpPr>
          <p:cNvPr id="2" name="TextBox 1"/>
          <p:cNvSpPr txBox="1"/>
          <p:nvPr/>
        </p:nvSpPr>
        <p:spPr>
          <a:xfrm>
            <a:off x="548640" y="640080"/>
            <a:ext cx="3657600" cy="365760"/>
          </a:xfrm>
          <a:prstGeom prst="rect">
            <a:avLst/>
          </a:prstGeom>
          <a:noFill/>
        </p:spPr>
        <p:txBody>
          <a:bodyPr wrap="square" anchor="t" lIns="0" rIns="0" tIns="0" bIns="0">
            <a:spAutoFit/>
          </a:bodyPr>
          <a:lstStyle/>
          <a:p>
            <a:pPr algn="l">
              <a:lnSpc>
                <a:spcPct val="115000"/>
              </a:lnSpc>
            </a:pPr>
            <a:r>
              <a:rPr sz="1300" b="1">
                <a:solidFill>
                  <a:srgbClr val="2E8B7A"/>
                </a:solidFill>
                <a:latin typeface="Calibri"/>
              </a:rPr>
              <a:t>PRIMO CHURN RADAR</a:t>
            </a:r>
          </a:p>
        </p:txBody>
      </p:sp>
      <p:sp>
        <p:nvSpPr>
          <p:cNvPr id="3" name="TextBox 2"/>
          <p:cNvSpPr txBox="1"/>
          <p:nvPr/>
        </p:nvSpPr>
        <p:spPr>
          <a:xfrm>
            <a:off x="548640" y="1143000"/>
            <a:ext cx="10515600" cy="1463040"/>
          </a:xfrm>
          <a:prstGeom prst="rect">
            <a:avLst/>
          </a:prstGeom>
          <a:noFill/>
        </p:spPr>
        <p:txBody>
          <a:bodyPr wrap="square" anchor="t" lIns="0" rIns="0" tIns="0" bIns="0">
            <a:spAutoFit/>
          </a:bodyPr>
          <a:lstStyle/>
          <a:p>
            <a:pPr algn="l">
              <a:lnSpc>
                <a:spcPct val="115000"/>
              </a:lnSpc>
            </a:pPr>
            <a:r>
              <a:rPr sz="4000" b="1">
                <a:solidFill>
                  <a:srgbClr val="FFFFFF"/>
                </a:solidFill>
                <a:latin typeface="Cambria"/>
              </a:rPr>
              <a:t>Oberry is losing members quietly.</a:t>
            </a:r>
          </a:p>
        </p:txBody>
      </p:sp>
      <p:sp>
        <p:nvSpPr>
          <p:cNvPr id="4" name="TextBox 3"/>
          <p:cNvSpPr txBox="1"/>
          <p:nvPr/>
        </p:nvSpPr>
        <p:spPr>
          <a:xfrm>
            <a:off x="548640" y="2926080"/>
            <a:ext cx="3291840" cy="822960"/>
          </a:xfrm>
          <a:prstGeom prst="rect">
            <a:avLst/>
          </a:prstGeom>
          <a:noFill/>
        </p:spPr>
        <p:txBody>
          <a:bodyPr wrap="square" anchor="t" lIns="0" rIns="0" tIns="0" bIns="0">
            <a:spAutoFit/>
          </a:bodyPr>
          <a:lstStyle/>
          <a:p>
            <a:pPr algn="l">
              <a:lnSpc>
                <a:spcPct val="115000"/>
              </a:lnSpc>
            </a:pPr>
            <a:r>
              <a:rPr sz="4400" b="1">
                <a:solidFill>
                  <a:srgbClr val="D65C4A"/>
                </a:solidFill>
                <a:latin typeface="Cambria"/>
              </a:rPr>
              <a:t>~19%</a:t>
            </a:r>
          </a:p>
        </p:txBody>
      </p:sp>
      <p:sp>
        <p:nvSpPr>
          <p:cNvPr id="5" name="TextBox 4"/>
          <p:cNvSpPr txBox="1"/>
          <p:nvPr/>
        </p:nvSpPr>
        <p:spPr>
          <a:xfrm>
            <a:off x="548640" y="3703320"/>
            <a:ext cx="32918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of members go silent for 60+ days, unnoticed</a:t>
            </a:r>
          </a:p>
        </p:txBody>
      </p:sp>
      <p:sp>
        <p:nvSpPr>
          <p:cNvPr id="6" name="TextBox 5"/>
          <p:cNvSpPr txBox="1"/>
          <p:nvPr/>
        </p:nvSpPr>
        <p:spPr>
          <a:xfrm>
            <a:off x="4206240" y="2926080"/>
            <a:ext cx="3291840" cy="822960"/>
          </a:xfrm>
          <a:prstGeom prst="rect">
            <a:avLst/>
          </a:prstGeom>
          <a:noFill/>
        </p:spPr>
        <p:txBody>
          <a:bodyPr wrap="square" anchor="t" lIns="0" rIns="0" tIns="0" bIns="0">
            <a:spAutoFit/>
          </a:bodyPr>
          <a:lstStyle/>
          <a:p>
            <a:pPr algn="l">
              <a:lnSpc>
                <a:spcPct val="115000"/>
              </a:lnSpc>
            </a:pPr>
            <a:r>
              <a:rPr sz="4400" b="1">
                <a:solidFill>
                  <a:srgbClr val="D4A03C"/>
                </a:solidFill>
                <a:latin typeface="Cambria"/>
              </a:rPr>
              <a:t>2,260</a:t>
            </a:r>
          </a:p>
        </p:txBody>
      </p:sp>
      <p:sp>
        <p:nvSpPr>
          <p:cNvPr id="7" name="TextBox 6"/>
          <p:cNvSpPr txBox="1"/>
          <p:nvPr/>
        </p:nvSpPr>
        <p:spPr>
          <a:xfrm>
            <a:off x="4206240" y="3703320"/>
            <a:ext cx="32918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members already flagged high-risk today</a:t>
            </a:r>
          </a:p>
        </p:txBody>
      </p:sp>
      <p:sp>
        <p:nvSpPr>
          <p:cNvPr id="8" name="TextBox 7"/>
          <p:cNvSpPr txBox="1"/>
          <p:nvPr/>
        </p:nvSpPr>
        <p:spPr>
          <a:xfrm>
            <a:off x="7863840" y="2926080"/>
            <a:ext cx="3657600" cy="822960"/>
          </a:xfrm>
          <a:prstGeom prst="rect">
            <a:avLst/>
          </a:prstGeom>
          <a:noFill/>
        </p:spPr>
        <p:txBody>
          <a:bodyPr wrap="square" anchor="t" lIns="0" rIns="0" tIns="0" bIns="0">
            <a:spAutoFit/>
          </a:bodyPr>
          <a:lstStyle/>
          <a:p>
            <a:pPr algn="l">
              <a:lnSpc>
                <a:spcPct val="115000"/>
              </a:lnSpc>
            </a:pPr>
            <a:r>
              <a:rPr sz="4400" b="1">
                <a:solidFill>
                  <a:srgbClr val="FFFFFF"/>
                </a:solidFill>
                <a:latin typeface="Cambria"/>
              </a:rPr>
              <a:t>฿5.4M/yr</a:t>
            </a:r>
          </a:p>
        </p:txBody>
      </p:sp>
      <p:sp>
        <p:nvSpPr>
          <p:cNvPr id="9" name="TextBox 8"/>
          <p:cNvSpPr txBox="1"/>
          <p:nvPr/>
        </p:nvSpPr>
        <p:spPr>
          <a:xfrm>
            <a:off x="7863840" y="3703320"/>
            <a:ext cx="365760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in spend riding on reaching them in time</a:t>
            </a:r>
          </a:p>
        </p:txBody>
      </p:sp>
      <p:sp>
        <p:nvSpPr>
          <p:cNvPr id="10" name="TextBox 9"/>
          <p:cNvSpPr txBox="1"/>
          <p:nvPr/>
        </p:nvSpPr>
        <p:spPr>
          <a:xfrm>
            <a:off x="548640" y="5120640"/>
            <a:ext cx="9601200" cy="914400"/>
          </a:xfrm>
          <a:prstGeom prst="rect">
            <a:avLst/>
          </a:prstGeom>
          <a:noFill/>
        </p:spPr>
        <p:txBody>
          <a:bodyPr wrap="square" anchor="t" lIns="0" rIns="0" tIns="0" bIns="0">
            <a:spAutoFit/>
          </a:bodyPr>
          <a:lstStyle/>
          <a:p>
            <a:pPr algn="l">
              <a:lnSpc>
                <a:spcPct val="130000"/>
              </a:lnSpc>
            </a:pPr>
            <a:r>
              <a:rPr sz="1500" b="0">
                <a:solidFill>
                  <a:srgbClr val="C9D4DE"/>
                </a:solidFill>
                <a:latin typeface="Calibri"/>
              </a:rPr>
              <a:t>No cancellation, no complaint — a member just stops coming back, and nothing in a typical POS report flags it until they're already gone.</a:t>
            </a:r>
          </a:p>
        </p:txBody>
      </p:sp>
      <p:sp>
        <p:nvSpPr>
          <p:cNvPr id="11" name="TextBox 10"/>
          <p:cNvSpPr txBox="1"/>
          <p:nvPr/>
        </p:nvSpPr>
        <p:spPr>
          <a:xfrm>
            <a:off x="548640" y="6400800"/>
            <a:ext cx="5486400" cy="320040"/>
          </a:xfrm>
          <a:prstGeom prst="rect">
            <a:avLst/>
          </a:prstGeom>
          <a:noFill/>
        </p:spPr>
        <p:txBody>
          <a:bodyPr wrap="square" anchor="t" lIns="0" rIns="0" tIns="0" bIns="0">
            <a:spAutoFit/>
          </a:bodyPr>
          <a:lstStyle/>
          <a:p>
            <a:pPr algn="l">
              <a:lnSpc>
                <a:spcPct val="115000"/>
              </a:lnSpc>
            </a:pPr>
            <a:r>
              <a:rPr sz="1000" b="0">
                <a:solidFill>
                  <a:srgbClr val="9AADC2"/>
                </a:solidFill>
                <a:latin typeface="Calibri"/>
              </a:rPr>
              <a:t>Illustrative figures · synthetic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nchor="t" lIns="0" rIns="0" tIns="0" bIns="0">
            <a:spAutoFit/>
          </a:bodyPr>
          <a:lstStyle/>
          <a:p>
            <a:pPr algn="l">
              <a:lnSpc>
                <a:spcPct val="115000"/>
              </a:lnSpc>
            </a:pPr>
            <a:r>
              <a:rPr sz="3200" b="1">
                <a:solidFill>
                  <a:srgbClr val="1F3B57"/>
                </a:solidFill>
                <a:latin typeface="Cambria"/>
              </a:rPr>
              <a:t>One pipeline: data → segments → risk score → action</a:t>
            </a:r>
          </a:p>
        </p:txBody>
      </p:sp>
      <p:sp>
        <p:nvSpPr>
          <p:cNvPr id="3" name="Oval 2"/>
          <p:cNvSpPr/>
          <p:nvPr/>
        </p:nvSpPr>
        <p:spPr>
          <a:xfrm>
            <a:off x="548640" y="1508760"/>
            <a:ext cx="640080" cy="640080"/>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Cambria"/>
              </a:rPr>
              <a:t>1</a:t>
            </a:r>
          </a:p>
        </p:txBody>
      </p:sp>
      <p:sp>
        <p:nvSpPr>
          <p:cNvPr id="4" name="TextBox 3"/>
          <p:cNvSpPr txBox="1"/>
          <p:nvPr/>
        </p:nvSpPr>
        <p:spPr>
          <a:xfrm>
            <a:off x="-45720" y="2331720"/>
            <a:ext cx="1828800" cy="365760"/>
          </a:xfrm>
          <a:prstGeom prst="rect">
            <a:avLst/>
          </a:prstGeom>
          <a:noFill/>
        </p:spPr>
        <p:txBody>
          <a:bodyPr wrap="square" anchor="t" lIns="0" rIns="0" tIns="0" bIns="0">
            <a:spAutoFit/>
          </a:bodyPr>
          <a:lstStyle/>
          <a:p>
            <a:pPr algn="ctr">
              <a:lnSpc>
                <a:spcPct val="115000"/>
              </a:lnSpc>
            </a:pPr>
            <a:r>
              <a:rPr sz="1400" b="1">
                <a:solidFill>
                  <a:srgbClr val="1C2B36"/>
                </a:solidFill>
                <a:latin typeface="Calibri"/>
              </a:rPr>
              <a:t>Data</a:t>
            </a:r>
          </a:p>
        </p:txBody>
      </p:sp>
      <p:cxnSp>
        <p:nvCxnSpPr>
          <p:cNvPr id="5" name="Connector 4"/>
          <p:cNvCxnSpPr/>
          <p:nvPr/>
        </p:nvCxnSpPr>
        <p:spPr>
          <a:xfrm>
            <a:off x="1280160" y="1828800"/>
            <a:ext cx="1783080" cy="0"/>
          </a:xfrm>
          <a:prstGeom prst="line">
            <a:avLst/>
          </a:prstGeom>
          <a:ln w="25400">
            <a:solidFill>
              <a:srgbClr val="E4E1D8"/>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3154680" y="1508760"/>
            <a:ext cx="640080" cy="64008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Cambria"/>
              </a:rPr>
              <a:t>2</a:t>
            </a:r>
          </a:p>
        </p:txBody>
      </p:sp>
      <p:sp>
        <p:nvSpPr>
          <p:cNvPr id="7" name="TextBox 6"/>
          <p:cNvSpPr txBox="1"/>
          <p:nvPr/>
        </p:nvSpPr>
        <p:spPr>
          <a:xfrm>
            <a:off x="2560320" y="2331720"/>
            <a:ext cx="1828800" cy="365760"/>
          </a:xfrm>
          <a:prstGeom prst="rect">
            <a:avLst/>
          </a:prstGeom>
          <a:noFill/>
        </p:spPr>
        <p:txBody>
          <a:bodyPr wrap="square" anchor="t" lIns="0" rIns="0" tIns="0" bIns="0">
            <a:spAutoFit/>
          </a:bodyPr>
          <a:lstStyle/>
          <a:p>
            <a:pPr algn="ctr">
              <a:lnSpc>
                <a:spcPct val="115000"/>
              </a:lnSpc>
            </a:pPr>
            <a:r>
              <a:rPr sz="1400" b="1">
                <a:solidFill>
                  <a:srgbClr val="1C2B36"/>
                </a:solidFill>
                <a:latin typeface="Calibri"/>
              </a:rPr>
              <a:t>Segments</a:t>
            </a:r>
          </a:p>
        </p:txBody>
      </p:sp>
      <p:cxnSp>
        <p:nvCxnSpPr>
          <p:cNvPr id="8" name="Connector 7"/>
          <p:cNvCxnSpPr/>
          <p:nvPr/>
        </p:nvCxnSpPr>
        <p:spPr>
          <a:xfrm>
            <a:off x="3886200" y="1828800"/>
            <a:ext cx="1783080" cy="0"/>
          </a:xfrm>
          <a:prstGeom prst="line">
            <a:avLst/>
          </a:prstGeom>
          <a:ln w="25400">
            <a:solidFill>
              <a:srgbClr val="E4E1D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5760720" y="1508760"/>
            <a:ext cx="640080" cy="640080"/>
          </a:xfrm>
          <a:prstGeom prst="ellipse">
            <a:avLst/>
          </a:prstGeom>
          <a:solidFill>
            <a:srgbClr val="D4A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Cambria"/>
              </a:rPr>
              <a:t>3</a:t>
            </a:r>
          </a:p>
        </p:txBody>
      </p:sp>
      <p:sp>
        <p:nvSpPr>
          <p:cNvPr id="10" name="TextBox 9"/>
          <p:cNvSpPr txBox="1"/>
          <p:nvPr/>
        </p:nvSpPr>
        <p:spPr>
          <a:xfrm>
            <a:off x="5166360" y="2331720"/>
            <a:ext cx="1828800" cy="365760"/>
          </a:xfrm>
          <a:prstGeom prst="rect">
            <a:avLst/>
          </a:prstGeom>
          <a:noFill/>
        </p:spPr>
        <p:txBody>
          <a:bodyPr wrap="square" anchor="t" lIns="0" rIns="0" tIns="0" bIns="0">
            <a:spAutoFit/>
          </a:bodyPr>
          <a:lstStyle/>
          <a:p>
            <a:pPr algn="ctr">
              <a:lnSpc>
                <a:spcPct val="115000"/>
              </a:lnSpc>
            </a:pPr>
            <a:r>
              <a:rPr sz="1400" b="1">
                <a:solidFill>
                  <a:srgbClr val="1C2B36"/>
                </a:solidFill>
                <a:latin typeface="Calibri"/>
              </a:rPr>
              <a:t>Risk score</a:t>
            </a:r>
          </a:p>
        </p:txBody>
      </p:sp>
      <p:cxnSp>
        <p:nvCxnSpPr>
          <p:cNvPr id="11" name="Connector 10"/>
          <p:cNvCxnSpPr/>
          <p:nvPr/>
        </p:nvCxnSpPr>
        <p:spPr>
          <a:xfrm>
            <a:off x="6492240" y="1828800"/>
            <a:ext cx="1783080" cy="0"/>
          </a:xfrm>
          <a:prstGeom prst="line">
            <a:avLst/>
          </a:prstGeom>
          <a:ln w="25400">
            <a:solidFill>
              <a:srgbClr val="E4E1D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366760" y="1508760"/>
            <a:ext cx="640080" cy="640080"/>
          </a:xfrm>
          <a:prstGeom prst="ellipse">
            <a:avLst/>
          </a:prstGeom>
          <a:solidFill>
            <a:srgbClr val="D65C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Cambria"/>
              </a:rPr>
              <a:t>4</a:t>
            </a:r>
          </a:p>
        </p:txBody>
      </p:sp>
      <p:sp>
        <p:nvSpPr>
          <p:cNvPr id="13" name="TextBox 12"/>
          <p:cNvSpPr txBox="1"/>
          <p:nvPr/>
        </p:nvSpPr>
        <p:spPr>
          <a:xfrm>
            <a:off x="7772400" y="2331720"/>
            <a:ext cx="1828800" cy="365760"/>
          </a:xfrm>
          <a:prstGeom prst="rect">
            <a:avLst/>
          </a:prstGeom>
          <a:noFill/>
        </p:spPr>
        <p:txBody>
          <a:bodyPr wrap="square" anchor="t" lIns="0" rIns="0" tIns="0" bIns="0">
            <a:spAutoFit/>
          </a:bodyPr>
          <a:lstStyle/>
          <a:p>
            <a:pPr algn="ctr">
              <a:lnSpc>
                <a:spcPct val="115000"/>
              </a:lnSpc>
            </a:pPr>
            <a:r>
              <a:rPr sz="1400" b="1">
                <a:solidFill>
                  <a:srgbClr val="1C2B36"/>
                </a:solidFill>
                <a:latin typeface="Calibri"/>
              </a:rPr>
              <a:t>Action</a:t>
            </a:r>
          </a:p>
        </p:txBody>
      </p:sp>
      <p:sp>
        <p:nvSpPr>
          <p:cNvPr id="14" name="TextBox 13"/>
          <p:cNvSpPr txBox="1"/>
          <p:nvPr/>
        </p:nvSpPr>
        <p:spPr>
          <a:xfrm>
            <a:off x="548640" y="2834640"/>
            <a:ext cx="10515600" cy="731520"/>
          </a:xfrm>
          <a:prstGeom prst="rect">
            <a:avLst/>
          </a:prstGeom>
          <a:noFill/>
        </p:spPr>
        <p:txBody>
          <a:bodyPr wrap="square" anchor="t" lIns="0" rIns="0" tIns="0" bIns="0">
            <a:spAutoFit/>
          </a:bodyPr>
          <a:lstStyle/>
          <a:p>
            <a:pPr algn="l">
              <a:lnSpc>
                <a:spcPct val="130000"/>
              </a:lnSpc>
            </a:pPr>
            <a:r>
              <a:rPr sz="1500" b="0">
                <a:solidFill>
                  <a:srgbClr val="1C2B36"/>
                </a:solidFill>
                <a:latin typeface="Calibri"/>
              </a:rPr>
              <a:t>Two years of transaction history becomes five member segments, a trained risk score for every member, and a specific recommended action — not a hunch.</a:t>
            </a:r>
          </a:p>
        </p:txBody>
      </p:sp>
      <p:pic>
        <p:nvPicPr>
          <p:cNvPr id="15" name="Picture 14" descr="dashboard_screenshot.png"/>
          <p:cNvPicPr>
            <a:picLocks noChangeAspect="1"/>
          </p:cNvPicPr>
          <p:nvPr/>
        </p:nvPicPr>
        <p:blipFill>
          <a:blip r:embed="rId2"/>
          <a:stretch>
            <a:fillRect/>
          </a:stretch>
        </p:blipFill>
        <p:spPr>
          <a:xfrm>
            <a:off x="3849624" y="3611880"/>
            <a:ext cx="4462272" cy="2788920"/>
          </a:xfrm>
          <a:prstGeom prst="rect">
            <a:avLst/>
          </a:prstGeom>
        </p:spPr>
      </p:pic>
      <p:sp>
        <p:nvSpPr>
          <p:cNvPr id="16" name="TextBox 15"/>
          <p:cNvSpPr txBox="1"/>
          <p:nvPr/>
        </p:nvSpPr>
        <p:spPr>
          <a:xfrm>
            <a:off x="548640" y="6400800"/>
            <a:ext cx="5486400" cy="320040"/>
          </a:xfrm>
          <a:prstGeom prst="rect">
            <a:avLst/>
          </a:prstGeom>
          <a:noFill/>
        </p:spPr>
        <p:txBody>
          <a:bodyPr wrap="square" anchor="t" lIns="0" rIns="0" tIns="0" bIns="0">
            <a:spAutoFit/>
          </a:bodyPr>
          <a:lstStyle/>
          <a:p>
            <a:pPr algn="l">
              <a:lnSpc>
                <a:spcPct val="115000"/>
              </a:lnSpc>
            </a:pPr>
            <a:r>
              <a:rPr sz="1000" b="0">
                <a:solidFill>
                  <a:srgbClr val="5B7C99"/>
                </a:solidFill>
                <a:latin typeface="Calibri"/>
              </a:rPr>
              <a:t>Illustrative figures · synthetic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nchor="t" lIns="0" rIns="0" tIns="0" bIns="0">
            <a:spAutoFit/>
          </a:bodyPr>
          <a:lstStyle/>
          <a:p>
            <a:pPr algn="l">
              <a:lnSpc>
                <a:spcPct val="115000"/>
              </a:lnSpc>
            </a:pPr>
            <a:r>
              <a:rPr sz="3200" b="1">
                <a:solidFill>
                  <a:srgbClr val="1F3B57"/>
                </a:solidFill>
                <a:latin typeface="Cambria"/>
              </a:rPr>
              <a:t>Five kinds of member, not one undifferentiated list</a:t>
            </a:r>
          </a:p>
        </p:txBody>
      </p:sp>
      <p:pic>
        <p:nvPicPr>
          <p:cNvPr id="3" name="Picture 2" descr="07_segment_bubble_chart.png"/>
          <p:cNvPicPr>
            <a:picLocks noChangeAspect="1"/>
          </p:cNvPicPr>
          <p:nvPr/>
        </p:nvPicPr>
        <p:blipFill>
          <a:blip r:embed="rId2"/>
          <a:stretch>
            <a:fillRect/>
          </a:stretch>
        </p:blipFill>
        <p:spPr>
          <a:xfrm>
            <a:off x="734786" y="1554480"/>
            <a:ext cx="6577148" cy="4846320"/>
          </a:xfrm>
          <a:prstGeom prst="rect">
            <a:avLst/>
          </a:prstGeom>
        </p:spPr>
      </p:pic>
      <p:sp>
        <p:nvSpPr>
          <p:cNvPr id="4" name="Oval 3"/>
          <p:cNvSpPr/>
          <p:nvPr/>
        </p:nvSpPr>
        <p:spPr>
          <a:xfrm>
            <a:off x="7863840" y="1810512"/>
            <a:ext cx="201168" cy="201168"/>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1737360"/>
            <a:ext cx="3383280" cy="457200"/>
          </a:xfrm>
          <a:prstGeom prst="rect">
            <a:avLst/>
          </a:prstGeom>
          <a:noFill/>
        </p:spPr>
        <p:txBody>
          <a:bodyPr wrap="square" anchor="t" lIns="0" rIns="0" tIns="0" bIns="0">
            <a:spAutoFit/>
          </a:bodyPr>
          <a:lstStyle/>
          <a:p>
            <a:pPr algn="l">
              <a:lnSpc>
                <a:spcPct val="115000"/>
              </a:lnSpc>
            </a:pPr>
            <a:r>
              <a:rPr sz="1500" b="1">
                <a:solidFill>
                  <a:srgbClr val="1C2B36"/>
                </a:solidFill>
                <a:latin typeface="Calibri"/>
              </a:rPr>
              <a:t>Champions — 8%</a:t>
            </a:r>
          </a:p>
        </p:txBody>
      </p:sp>
      <p:sp>
        <p:nvSpPr>
          <p:cNvPr id="6" name="Oval 5"/>
          <p:cNvSpPr/>
          <p:nvPr/>
        </p:nvSpPr>
        <p:spPr>
          <a:xfrm>
            <a:off x="7863840" y="2679192"/>
            <a:ext cx="201168" cy="201168"/>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0" y="2606040"/>
            <a:ext cx="3383280" cy="457200"/>
          </a:xfrm>
          <a:prstGeom prst="rect">
            <a:avLst/>
          </a:prstGeom>
          <a:noFill/>
        </p:spPr>
        <p:txBody>
          <a:bodyPr wrap="square" anchor="t" lIns="0" rIns="0" tIns="0" bIns="0">
            <a:spAutoFit/>
          </a:bodyPr>
          <a:lstStyle/>
          <a:p>
            <a:pPr algn="l">
              <a:lnSpc>
                <a:spcPct val="115000"/>
              </a:lnSpc>
            </a:pPr>
            <a:r>
              <a:rPr sz="1500" b="1">
                <a:solidFill>
                  <a:srgbClr val="1C2B36"/>
                </a:solidFill>
                <a:latin typeface="Calibri"/>
              </a:rPr>
              <a:t>Loyal — 28%</a:t>
            </a:r>
          </a:p>
        </p:txBody>
      </p:sp>
      <p:sp>
        <p:nvSpPr>
          <p:cNvPr id="8" name="Oval 7"/>
          <p:cNvSpPr/>
          <p:nvPr/>
        </p:nvSpPr>
        <p:spPr>
          <a:xfrm>
            <a:off x="7863840" y="3547872"/>
            <a:ext cx="201168" cy="201168"/>
          </a:xfrm>
          <a:prstGeom prst="ellipse">
            <a:avLst/>
          </a:prstGeom>
          <a:solidFill>
            <a:srgbClr val="D4A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3474720"/>
            <a:ext cx="3383280" cy="457200"/>
          </a:xfrm>
          <a:prstGeom prst="rect">
            <a:avLst/>
          </a:prstGeom>
          <a:noFill/>
        </p:spPr>
        <p:txBody>
          <a:bodyPr wrap="square" anchor="t" lIns="0" rIns="0" tIns="0" bIns="0">
            <a:spAutoFit/>
          </a:bodyPr>
          <a:lstStyle/>
          <a:p>
            <a:pPr algn="l">
              <a:lnSpc>
                <a:spcPct val="115000"/>
              </a:lnSpc>
            </a:pPr>
            <a:r>
              <a:rPr sz="1500" b="1">
                <a:solidFill>
                  <a:srgbClr val="1C2B36"/>
                </a:solidFill>
                <a:latin typeface="Calibri"/>
              </a:rPr>
              <a:t>At-risk regulars — 32%</a:t>
            </a:r>
          </a:p>
        </p:txBody>
      </p:sp>
      <p:sp>
        <p:nvSpPr>
          <p:cNvPr id="10" name="Oval 9"/>
          <p:cNvSpPr/>
          <p:nvPr/>
        </p:nvSpPr>
        <p:spPr>
          <a:xfrm>
            <a:off x="7863840" y="4416552"/>
            <a:ext cx="201168" cy="201168"/>
          </a:xfrm>
          <a:prstGeom prst="ellipse">
            <a:avLst/>
          </a:prstGeom>
          <a:solidFill>
            <a:srgbClr val="D6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4343400"/>
            <a:ext cx="3383280" cy="457200"/>
          </a:xfrm>
          <a:prstGeom prst="rect">
            <a:avLst/>
          </a:prstGeom>
          <a:noFill/>
        </p:spPr>
        <p:txBody>
          <a:bodyPr wrap="square" anchor="t" lIns="0" rIns="0" tIns="0" bIns="0">
            <a:spAutoFit/>
          </a:bodyPr>
          <a:lstStyle/>
          <a:p>
            <a:pPr algn="l">
              <a:lnSpc>
                <a:spcPct val="115000"/>
              </a:lnSpc>
            </a:pPr>
            <a:r>
              <a:rPr sz="1500" b="1">
                <a:solidFill>
                  <a:srgbClr val="1C2B36"/>
                </a:solidFill>
                <a:latin typeface="Calibri"/>
              </a:rPr>
              <a:t>Hibernating — 16%</a:t>
            </a:r>
          </a:p>
        </p:txBody>
      </p:sp>
      <p:sp>
        <p:nvSpPr>
          <p:cNvPr id="12" name="Oval 11"/>
          <p:cNvSpPr/>
          <p:nvPr/>
        </p:nvSpPr>
        <p:spPr>
          <a:xfrm>
            <a:off x="7863840" y="5285232"/>
            <a:ext cx="201168" cy="201168"/>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5212080"/>
            <a:ext cx="3383280" cy="457200"/>
          </a:xfrm>
          <a:prstGeom prst="rect">
            <a:avLst/>
          </a:prstGeom>
          <a:noFill/>
        </p:spPr>
        <p:txBody>
          <a:bodyPr wrap="square" anchor="t" lIns="0" rIns="0" tIns="0" bIns="0">
            <a:spAutoFit/>
          </a:bodyPr>
          <a:lstStyle/>
          <a:p>
            <a:pPr algn="l">
              <a:lnSpc>
                <a:spcPct val="115000"/>
              </a:lnSpc>
            </a:pPr>
            <a:r>
              <a:rPr sz="1500" b="1">
                <a:solidFill>
                  <a:srgbClr val="1C2B36"/>
                </a:solidFill>
                <a:latin typeface="Calibri"/>
              </a:rPr>
              <a:t>One-and-done — 16%</a:t>
            </a:r>
          </a:p>
        </p:txBody>
      </p:sp>
      <p:sp>
        <p:nvSpPr>
          <p:cNvPr id="14" name="TextBox 13"/>
          <p:cNvSpPr txBox="1"/>
          <p:nvPr/>
        </p:nvSpPr>
        <p:spPr>
          <a:xfrm>
            <a:off x="548640" y="6400800"/>
            <a:ext cx="5486400" cy="320040"/>
          </a:xfrm>
          <a:prstGeom prst="rect">
            <a:avLst/>
          </a:prstGeom>
          <a:noFill/>
        </p:spPr>
        <p:txBody>
          <a:bodyPr wrap="square" anchor="t" lIns="0" rIns="0" tIns="0" bIns="0">
            <a:spAutoFit/>
          </a:bodyPr>
          <a:lstStyle/>
          <a:p>
            <a:pPr algn="l">
              <a:lnSpc>
                <a:spcPct val="115000"/>
              </a:lnSpc>
            </a:pPr>
            <a:r>
              <a:rPr sz="1000" b="0">
                <a:solidFill>
                  <a:srgbClr val="5B7C99"/>
                </a:solidFill>
                <a:latin typeface="Calibri"/>
              </a:rPr>
              <a:t>Illustrative figures · synthetic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nchor="t" lIns="0" rIns="0" tIns="0" bIns="0">
            <a:spAutoFit/>
          </a:bodyPr>
          <a:lstStyle/>
          <a:p>
            <a:pPr algn="l">
              <a:lnSpc>
                <a:spcPct val="115000"/>
              </a:lnSpc>
            </a:pPr>
            <a:r>
              <a:rPr sz="3200" b="1">
                <a:solidFill>
                  <a:srgbClr val="1F3B57"/>
                </a:solidFill>
                <a:latin typeface="Cambria"/>
              </a:rPr>
              <a:t>Does it work? Yes — with honest, stated limits</a:t>
            </a:r>
          </a:p>
        </p:txBody>
      </p:sp>
      <p:pic>
        <p:nvPicPr>
          <p:cNvPr id="3" name="Picture 2" descr="08_roc_curves.png"/>
          <p:cNvPicPr>
            <a:picLocks noChangeAspect="1"/>
          </p:cNvPicPr>
          <p:nvPr/>
        </p:nvPicPr>
        <p:blipFill>
          <a:blip r:embed="rId2"/>
          <a:stretch>
            <a:fillRect/>
          </a:stretch>
        </p:blipFill>
        <p:spPr>
          <a:xfrm>
            <a:off x="1079695" y="1463040"/>
            <a:ext cx="4332849" cy="4023360"/>
          </a:xfrm>
          <a:prstGeom prst="rect">
            <a:avLst/>
          </a:prstGeom>
        </p:spPr>
      </p:pic>
      <p:pic>
        <p:nvPicPr>
          <p:cNvPr id="4" name="Picture 3" descr="10_confusion_matrix.png"/>
          <p:cNvPicPr>
            <a:picLocks noChangeAspect="1"/>
          </p:cNvPicPr>
          <p:nvPr/>
        </p:nvPicPr>
        <p:blipFill>
          <a:blip r:embed="rId3"/>
          <a:stretch>
            <a:fillRect/>
          </a:stretch>
        </p:blipFill>
        <p:spPr>
          <a:xfrm>
            <a:off x="6736080" y="1463040"/>
            <a:ext cx="4358640" cy="4023360"/>
          </a:xfrm>
          <a:prstGeom prst="rect">
            <a:avLst/>
          </a:prstGeom>
        </p:spPr>
      </p:pic>
      <p:sp>
        <p:nvSpPr>
          <p:cNvPr id="5" name="TextBox 4"/>
          <p:cNvSpPr txBox="1"/>
          <p:nvPr/>
        </p:nvSpPr>
        <p:spPr>
          <a:xfrm>
            <a:off x="548640" y="5669280"/>
            <a:ext cx="11064240" cy="822960"/>
          </a:xfrm>
          <a:prstGeom prst="rect">
            <a:avLst/>
          </a:prstGeom>
          <a:noFill/>
        </p:spPr>
        <p:txBody>
          <a:bodyPr wrap="square" anchor="t" lIns="0" rIns="0" tIns="0" bIns="0">
            <a:spAutoFit/>
          </a:bodyPr>
          <a:lstStyle/>
          <a:p>
            <a:pPr algn="l">
              <a:lnSpc>
                <a:spcPct val="130000"/>
              </a:lnSpc>
            </a:pPr>
            <a:r>
              <a:rPr sz="1500" b="0">
                <a:solidFill>
                  <a:srgbClr val="1C2B36"/>
                </a:solidFill>
                <a:latin typeface="Calibri"/>
              </a:rPr>
              <a:t>At the chosen threshold, the model catches 57% of members who actually leave, at 70% precision on every alarm it raises — no model catches everyone, and this one doesn't pretend to.</a:t>
            </a:r>
          </a:p>
        </p:txBody>
      </p:sp>
      <p:sp>
        <p:nvSpPr>
          <p:cNvPr id="6" name="TextBox 5"/>
          <p:cNvSpPr txBox="1"/>
          <p:nvPr/>
        </p:nvSpPr>
        <p:spPr>
          <a:xfrm>
            <a:off x="548640" y="6400800"/>
            <a:ext cx="5486400" cy="320040"/>
          </a:xfrm>
          <a:prstGeom prst="rect">
            <a:avLst/>
          </a:prstGeom>
          <a:noFill/>
        </p:spPr>
        <p:txBody>
          <a:bodyPr wrap="square" anchor="t" lIns="0" rIns="0" tIns="0" bIns="0">
            <a:spAutoFit/>
          </a:bodyPr>
          <a:lstStyle/>
          <a:p>
            <a:pPr algn="l">
              <a:lnSpc>
                <a:spcPct val="115000"/>
              </a:lnSpc>
            </a:pPr>
            <a:r>
              <a:rPr sz="1000" b="0">
                <a:solidFill>
                  <a:srgbClr val="5B7C99"/>
                </a:solidFill>
                <a:latin typeface="Calibri"/>
              </a:rPr>
              <a:t>Illustrative figures · synthetic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nchor="t" lIns="0" rIns="0" tIns="0" bIns="0">
            <a:spAutoFit/>
          </a:bodyPr>
          <a:lstStyle/>
          <a:p>
            <a:pPr algn="l">
              <a:lnSpc>
                <a:spcPct val="115000"/>
              </a:lnSpc>
            </a:pPr>
            <a:r>
              <a:rPr sz="3200" b="1">
                <a:solidFill>
                  <a:srgbClr val="1F3B57"/>
                </a:solidFill>
                <a:latin typeface="Cambria"/>
              </a:rPr>
              <a:t>The strongest warning isn't spend — it's silence</a:t>
            </a:r>
          </a:p>
        </p:txBody>
      </p:sp>
      <p:pic>
        <p:nvPicPr>
          <p:cNvPr id="3" name="Picture 2" descr="12_shap_importance.png"/>
          <p:cNvPicPr>
            <a:picLocks noChangeAspect="1"/>
          </p:cNvPicPr>
          <p:nvPr/>
        </p:nvPicPr>
        <p:blipFill>
          <a:blip r:embed="rId2"/>
          <a:stretch>
            <a:fillRect/>
          </a:stretch>
        </p:blipFill>
        <p:spPr>
          <a:xfrm>
            <a:off x="927463" y="1463040"/>
            <a:ext cx="5643154" cy="4937760"/>
          </a:xfrm>
          <a:prstGeom prst="rect">
            <a:avLst/>
          </a:prstGeom>
        </p:spPr>
      </p:pic>
      <p:sp>
        <p:nvSpPr>
          <p:cNvPr id="4" name="TextBox 3"/>
          <p:cNvSpPr txBox="1"/>
          <p:nvPr/>
        </p:nvSpPr>
        <p:spPr>
          <a:xfrm>
            <a:off x="7589520" y="1737360"/>
            <a:ext cx="4023360" cy="4389120"/>
          </a:xfrm>
          <a:prstGeom prst="rect">
            <a:avLst/>
          </a:prstGeom>
          <a:noFill/>
        </p:spPr>
        <p:txBody>
          <a:bodyPr wrap="square" lIns="0" rIns="0" tIns="0" bIns="0">
            <a:spAutoFit/>
          </a:bodyPr>
          <a:lstStyle/>
          <a:p>
            <a:pPr algn="l">
              <a:spcAft>
                <a:spcPts val="1800"/>
              </a:spcAft>
            </a:pPr>
            <a:r>
              <a:rPr sz="1500" b="1">
                <a:solidFill>
                  <a:srgbClr val="2E8B7A"/>
                </a:solidFill>
                <a:latin typeface="Calibri"/>
              </a:rPr>
              <a:t>–  </a:t>
            </a:r>
            <a:r>
              <a:rPr sz="1500" b="0">
                <a:solidFill>
                  <a:srgbClr val="1C2B36"/>
                </a:solidFill>
                <a:latin typeface="Calibri"/>
              </a:rPr>
              <a:t>A widening gap between visits predicts departure weeks before the last one.</a:t>
            </a:r>
          </a:p>
          <a:p>
            <a:pPr algn="l">
              <a:spcAft>
                <a:spcPts val="1800"/>
              </a:spcAft>
            </a:pPr>
            <a:r>
              <a:rPr sz="1500" b="1">
                <a:solidFill>
                  <a:srgbClr val="2E8B7A"/>
                </a:solidFill>
                <a:latin typeface="Calibri"/>
              </a:rPr>
              <a:t>–  </a:t>
            </a:r>
            <a:r>
              <a:rPr sz="1500" b="0">
                <a:solidFill>
                  <a:srgbClr val="1C2B36"/>
                </a:solidFill>
                <a:latin typeface="Calibri"/>
              </a:rPr>
              <a:t>Members who never redeem a point churn noticeably more often.</a:t>
            </a:r>
          </a:p>
          <a:p>
            <a:pPr algn="l">
              <a:spcAft>
                <a:spcPts val="1800"/>
              </a:spcAft>
            </a:pPr>
            <a:r>
              <a:rPr sz="1500" b="1">
                <a:solidFill>
                  <a:srgbClr val="2E8B7A"/>
                </a:solidFill>
                <a:latin typeface="Calibri"/>
              </a:rPr>
              <a:t>–  </a:t>
            </a:r>
            <a:r>
              <a:rPr sz="1500" b="0">
                <a:solidFill>
                  <a:srgbClr val="1C2B36"/>
                </a:solidFill>
                <a:latin typeface="Calibri"/>
              </a:rPr>
              <a:t>Recency and visit-gap trend dominate — spend alone barely registers.</a:t>
            </a:r>
          </a:p>
        </p:txBody>
      </p:sp>
      <p:sp>
        <p:nvSpPr>
          <p:cNvPr id="5" name="TextBox 4"/>
          <p:cNvSpPr txBox="1"/>
          <p:nvPr/>
        </p:nvSpPr>
        <p:spPr>
          <a:xfrm>
            <a:off x="548640" y="6400800"/>
            <a:ext cx="5486400" cy="320040"/>
          </a:xfrm>
          <a:prstGeom prst="rect">
            <a:avLst/>
          </a:prstGeom>
          <a:noFill/>
        </p:spPr>
        <p:txBody>
          <a:bodyPr wrap="square" anchor="t" lIns="0" rIns="0" tIns="0" bIns="0">
            <a:spAutoFit/>
          </a:bodyPr>
          <a:lstStyle/>
          <a:p>
            <a:pPr algn="l">
              <a:lnSpc>
                <a:spcPct val="115000"/>
              </a:lnSpc>
            </a:pPr>
            <a:r>
              <a:rPr sz="1000" b="0">
                <a:solidFill>
                  <a:srgbClr val="5B7C99"/>
                </a:solidFill>
                <a:latin typeface="Calibri"/>
              </a:rPr>
              <a:t>Illustrative figures · synthetic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nchor="t" lIns="0" rIns="0" tIns="0" bIns="0">
            <a:spAutoFit/>
          </a:bodyPr>
          <a:lstStyle/>
          <a:p>
            <a:pPr algn="l">
              <a:lnSpc>
                <a:spcPct val="115000"/>
              </a:lnSpc>
            </a:pPr>
            <a:r>
              <a:rPr sz="3200" b="1">
                <a:solidFill>
                  <a:srgbClr val="1F3B57"/>
                </a:solidFill>
                <a:latin typeface="Cambria"/>
              </a:rPr>
              <a:t>A specific action for every flagged member</a:t>
            </a:r>
          </a:p>
        </p:txBody>
      </p:sp>
      <p:sp>
        <p:nvSpPr>
          <p:cNvPr id="3" name="TextBox 2"/>
          <p:cNvSpPr txBox="1"/>
          <p:nvPr/>
        </p:nvSpPr>
        <p:spPr>
          <a:xfrm>
            <a:off x="548640" y="1508760"/>
            <a:ext cx="6858000" cy="320040"/>
          </a:xfrm>
          <a:prstGeom prst="rect">
            <a:avLst/>
          </a:prstGeom>
          <a:noFill/>
        </p:spPr>
        <p:txBody>
          <a:bodyPr wrap="square" anchor="t" lIns="0" rIns="0" tIns="0" bIns="0">
            <a:spAutoFit/>
          </a:bodyPr>
          <a:lstStyle/>
          <a:p>
            <a:pPr algn="l">
              <a:lnSpc>
                <a:spcPct val="115000"/>
              </a:lnSpc>
            </a:pPr>
            <a:r>
              <a:rPr sz="1200" b="1">
                <a:solidFill>
                  <a:srgbClr val="6E7A8A"/>
                </a:solidFill>
                <a:latin typeface="Calibri"/>
              </a:rPr>
              <a:t>Segment</a:t>
            </a:r>
          </a:p>
        </p:txBody>
      </p:sp>
      <p:sp>
        <p:nvSpPr>
          <p:cNvPr id="4" name="TextBox 3"/>
          <p:cNvSpPr txBox="1"/>
          <p:nvPr/>
        </p:nvSpPr>
        <p:spPr>
          <a:xfrm>
            <a:off x="3108960" y="1508760"/>
            <a:ext cx="6858000" cy="320040"/>
          </a:xfrm>
          <a:prstGeom prst="rect">
            <a:avLst/>
          </a:prstGeom>
          <a:noFill/>
        </p:spPr>
        <p:txBody>
          <a:bodyPr wrap="square" anchor="t" lIns="0" rIns="0" tIns="0" bIns="0">
            <a:spAutoFit/>
          </a:bodyPr>
          <a:lstStyle/>
          <a:p>
            <a:pPr algn="l">
              <a:lnSpc>
                <a:spcPct val="115000"/>
              </a:lnSpc>
            </a:pPr>
            <a:r>
              <a:rPr sz="1200" b="1">
                <a:solidFill>
                  <a:srgbClr val="6E7A8A"/>
                </a:solidFill>
                <a:latin typeface="Calibri"/>
              </a:rPr>
              <a:t>Risk</a:t>
            </a:r>
          </a:p>
        </p:txBody>
      </p:sp>
      <p:sp>
        <p:nvSpPr>
          <p:cNvPr id="5" name="TextBox 4"/>
          <p:cNvSpPr txBox="1"/>
          <p:nvPr/>
        </p:nvSpPr>
        <p:spPr>
          <a:xfrm>
            <a:off x="4206240" y="1508760"/>
            <a:ext cx="6858000" cy="320040"/>
          </a:xfrm>
          <a:prstGeom prst="rect">
            <a:avLst/>
          </a:prstGeom>
          <a:noFill/>
        </p:spPr>
        <p:txBody>
          <a:bodyPr wrap="square" anchor="t" lIns="0" rIns="0" tIns="0" bIns="0">
            <a:spAutoFit/>
          </a:bodyPr>
          <a:lstStyle/>
          <a:p>
            <a:pPr algn="l">
              <a:lnSpc>
                <a:spcPct val="115000"/>
              </a:lnSpc>
            </a:pPr>
            <a:r>
              <a:rPr sz="1200" b="1">
                <a:solidFill>
                  <a:srgbClr val="6E7A8A"/>
                </a:solidFill>
                <a:latin typeface="Calibri"/>
              </a:rPr>
              <a:t>Recommended action</a:t>
            </a:r>
          </a:p>
        </p:txBody>
      </p:sp>
      <p:sp>
        <p:nvSpPr>
          <p:cNvPr id="6" name="Oval 5"/>
          <p:cNvSpPr/>
          <p:nvPr/>
        </p:nvSpPr>
        <p:spPr>
          <a:xfrm>
            <a:off x="548640" y="2011680"/>
            <a:ext cx="146304" cy="14630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2651760" cy="457200"/>
          </a:xfrm>
          <a:prstGeom prst="rect">
            <a:avLst/>
          </a:prstGeom>
          <a:noFill/>
        </p:spPr>
        <p:txBody>
          <a:bodyPr wrap="square" anchor="t" lIns="0" rIns="0" tIns="0" bIns="0">
            <a:spAutoFit/>
          </a:bodyPr>
          <a:lstStyle/>
          <a:p>
            <a:pPr algn="l">
              <a:lnSpc>
                <a:spcPct val="115000"/>
              </a:lnSpc>
            </a:pPr>
            <a:r>
              <a:rPr sz="1400" b="1">
                <a:solidFill>
                  <a:srgbClr val="1C2B36"/>
                </a:solidFill>
                <a:latin typeface="Calibri"/>
              </a:rPr>
              <a:t>Champions</a:t>
            </a:r>
          </a:p>
        </p:txBody>
      </p:sp>
      <p:sp>
        <p:nvSpPr>
          <p:cNvPr id="8" name="TextBox 7"/>
          <p:cNvSpPr txBox="1"/>
          <p:nvPr/>
        </p:nvSpPr>
        <p:spPr>
          <a:xfrm>
            <a:off x="3108960" y="1920240"/>
            <a:ext cx="10058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low</a:t>
            </a:r>
          </a:p>
        </p:txBody>
      </p:sp>
      <p:sp>
        <p:nvSpPr>
          <p:cNvPr id="9" name="TextBox 8"/>
          <p:cNvSpPr txBox="1"/>
          <p:nvPr/>
        </p:nvSpPr>
        <p:spPr>
          <a:xfrm>
            <a:off x="4206240" y="1920240"/>
            <a:ext cx="6766560" cy="457200"/>
          </a:xfrm>
          <a:prstGeom prst="rect">
            <a:avLst/>
          </a:prstGeom>
          <a:noFill/>
        </p:spPr>
        <p:txBody>
          <a:bodyPr wrap="square" anchor="t" lIns="0" rIns="0" tIns="0" bIns="0">
            <a:spAutoFit/>
          </a:bodyPr>
          <a:lstStyle/>
          <a:p>
            <a:pPr algn="l">
              <a:lnSpc>
                <a:spcPct val="115000"/>
              </a:lnSpc>
            </a:pPr>
            <a:r>
              <a:rPr sz="1300" b="0">
                <a:solidFill>
                  <a:srgbClr val="1C2B36"/>
                </a:solidFill>
                <a:latin typeface="Calibri"/>
              </a:rPr>
              <a:t>VIP perks, early access to new drinks, referral ask</a:t>
            </a:r>
          </a:p>
        </p:txBody>
      </p:sp>
      <p:sp>
        <p:nvSpPr>
          <p:cNvPr id="10" name="Oval 9"/>
          <p:cNvSpPr/>
          <p:nvPr/>
        </p:nvSpPr>
        <p:spPr>
          <a:xfrm>
            <a:off x="548640" y="2578608"/>
            <a:ext cx="146304" cy="146304"/>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87168"/>
            <a:ext cx="2651760" cy="457200"/>
          </a:xfrm>
          <a:prstGeom prst="rect">
            <a:avLst/>
          </a:prstGeom>
          <a:noFill/>
        </p:spPr>
        <p:txBody>
          <a:bodyPr wrap="square" anchor="t" lIns="0" rIns="0" tIns="0" bIns="0">
            <a:spAutoFit/>
          </a:bodyPr>
          <a:lstStyle/>
          <a:p>
            <a:pPr algn="l">
              <a:lnSpc>
                <a:spcPct val="115000"/>
              </a:lnSpc>
            </a:pPr>
            <a:r>
              <a:rPr sz="1400" b="1">
                <a:solidFill>
                  <a:srgbClr val="1C2B36"/>
                </a:solidFill>
                <a:latin typeface="Calibri"/>
              </a:rPr>
              <a:t>Loyal</a:t>
            </a:r>
          </a:p>
        </p:txBody>
      </p:sp>
      <p:sp>
        <p:nvSpPr>
          <p:cNvPr id="12" name="TextBox 11"/>
          <p:cNvSpPr txBox="1"/>
          <p:nvPr/>
        </p:nvSpPr>
        <p:spPr>
          <a:xfrm>
            <a:off x="3108960" y="2487168"/>
            <a:ext cx="10058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low–med</a:t>
            </a:r>
          </a:p>
        </p:txBody>
      </p:sp>
      <p:sp>
        <p:nvSpPr>
          <p:cNvPr id="13" name="TextBox 12"/>
          <p:cNvSpPr txBox="1"/>
          <p:nvPr/>
        </p:nvSpPr>
        <p:spPr>
          <a:xfrm>
            <a:off x="4206240" y="2487168"/>
            <a:ext cx="6766560" cy="457200"/>
          </a:xfrm>
          <a:prstGeom prst="rect">
            <a:avLst/>
          </a:prstGeom>
          <a:noFill/>
        </p:spPr>
        <p:txBody>
          <a:bodyPr wrap="square" anchor="t" lIns="0" rIns="0" tIns="0" bIns="0">
            <a:spAutoFit/>
          </a:bodyPr>
          <a:lstStyle/>
          <a:p>
            <a:pPr algn="l">
              <a:lnSpc>
                <a:spcPct val="115000"/>
              </a:lnSpc>
            </a:pPr>
            <a:r>
              <a:rPr sz="1300" b="0">
                <a:solidFill>
                  <a:srgbClr val="1C2B36"/>
                </a:solidFill>
                <a:latin typeface="Calibri"/>
              </a:rPr>
              <a:t>Tier-up nudge, personalized bundle</a:t>
            </a:r>
          </a:p>
        </p:txBody>
      </p:sp>
      <p:sp>
        <p:nvSpPr>
          <p:cNvPr id="14" name="Oval 13"/>
          <p:cNvSpPr/>
          <p:nvPr/>
        </p:nvSpPr>
        <p:spPr>
          <a:xfrm>
            <a:off x="548640" y="3145536"/>
            <a:ext cx="146304" cy="146304"/>
          </a:xfrm>
          <a:prstGeom prst="ellipse">
            <a:avLst/>
          </a:prstGeom>
          <a:solidFill>
            <a:srgbClr val="D4A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054096"/>
            <a:ext cx="2651760" cy="457200"/>
          </a:xfrm>
          <a:prstGeom prst="rect">
            <a:avLst/>
          </a:prstGeom>
          <a:noFill/>
        </p:spPr>
        <p:txBody>
          <a:bodyPr wrap="square" anchor="t" lIns="0" rIns="0" tIns="0" bIns="0">
            <a:spAutoFit/>
          </a:bodyPr>
          <a:lstStyle/>
          <a:p>
            <a:pPr algn="l">
              <a:lnSpc>
                <a:spcPct val="115000"/>
              </a:lnSpc>
            </a:pPr>
            <a:r>
              <a:rPr sz="1400" b="1">
                <a:solidFill>
                  <a:srgbClr val="1C2B36"/>
                </a:solidFill>
                <a:latin typeface="Calibri"/>
              </a:rPr>
              <a:t>At-risk regulars</a:t>
            </a:r>
          </a:p>
        </p:txBody>
      </p:sp>
      <p:sp>
        <p:nvSpPr>
          <p:cNvPr id="16" name="TextBox 15"/>
          <p:cNvSpPr txBox="1"/>
          <p:nvPr/>
        </p:nvSpPr>
        <p:spPr>
          <a:xfrm>
            <a:off x="3108960" y="3054096"/>
            <a:ext cx="10058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high</a:t>
            </a:r>
          </a:p>
        </p:txBody>
      </p:sp>
      <p:sp>
        <p:nvSpPr>
          <p:cNvPr id="17" name="TextBox 16"/>
          <p:cNvSpPr txBox="1"/>
          <p:nvPr/>
        </p:nvSpPr>
        <p:spPr>
          <a:xfrm>
            <a:off x="4206240" y="3054096"/>
            <a:ext cx="6766560" cy="457200"/>
          </a:xfrm>
          <a:prstGeom prst="rect">
            <a:avLst/>
          </a:prstGeom>
          <a:noFill/>
        </p:spPr>
        <p:txBody>
          <a:bodyPr wrap="square" anchor="t" lIns="0" rIns="0" tIns="0" bIns="0">
            <a:spAutoFit/>
          </a:bodyPr>
          <a:lstStyle/>
          <a:p>
            <a:pPr algn="l">
              <a:lnSpc>
                <a:spcPct val="115000"/>
              </a:lnSpc>
            </a:pPr>
            <a:r>
              <a:rPr sz="1300" b="0">
                <a:solidFill>
                  <a:srgbClr val="1C2B36"/>
                </a:solidFill>
                <a:latin typeface="Calibri"/>
              </a:rPr>
              <a:t>15%-off win-back coupon + “we miss you” LINE mission</a:t>
            </a:r>
          </a:p>
        </p:txBody>
      </p:sp>
      <p:sp>
        <p:nvSpPr>
          <p:cNvPr id="18" name="Oval 17"/>
          <p:cNvSpPr/>
          <p:nvPr/>
        </p:nvSpPr>
        <p:spPr>
          <a:xfrm>
            <a:off x="548640" y="3712464"/>
            <a:ext cx="146304" cy="146304"/>
          </a:xfrm>
          <a:prstGeom prst="ellipse">
            <a:avLst/>
          </a:prstGeom>
          <a:solidFill>
            <a:srgbClr val="D6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21024"/>
            <a:ext cx="2651760" cy="457200"/>
          </a:xfrm>
          <a:prstGeom prst="rect">
            <a:avLst/>
          </a:prstGeom>
          <a:noFill/>
        </p:spPr>
        <p:txBody>
          <a:bodyPr wrap="square" anchor="t" lIns="0" rIns="0" tIns="0" bIns="0">
            <a:spAutoFit/>
          </a:bodyPr>
          <a:lstStyle/>
          <a:p>
            <a:pPr algn="l">
              <a:lnSpc>
                <a:spcPct val="115000"/>
              </a:lnSpc>
            </a:pPr>
            <a:r>
              <a:rPr sz="1400" b="1">
                <a:solidFill>
                  <a:srgbClr val="1C2B36"/>
                </a:solidFill>
                <a:latin typeface="Calibri"/>
              </a:rPr>
              <a:t>Hibernating</a:t>
            </a:r>
          </a:p>
        </p:txBody>
      </p:sp>
      <p:sp>
        <p:nvSpPr>
          <p:cNvPr id="20" name="TextBox 19"/>
          <p:cNvSpPr txBox="1"/>
          <p:nvPr/>
        </p:nvSpPr>
        <p:spPr>
          <a:xfrm>
            <a:off x="3108960" y="3621024"/>
            <a:ext cx="10058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very high</a:t>
            </a:r>
          </a:p>
        </p:txBody>
      </p:sp>
      <p:sp>
        <p:nvSpPr>
          <p:cNvPr id="21" name="TextBox 20"/>
          <p:cNvSpPr txBox="1"/>
          <p:nvPr/>
        </p:nvSpPr>
        <p:spPr>
          <a:xfrm>
            <a:off x="4206240" y="3621024"/>
            <a:ext cx="6766560" cy="457200"/>
          </a:xfrm>
          <a:prstGeom prst="rect">
            <a:avLst/>
          </a:prstGeom>
          <a:noFill/>
        </p:spPr>
        <p:txBody>
          <a:bodyPr wrap="square" anchor="t" lIns="0" rIns="0" tIns="0" bIns="0">
            <a:spAutoFit/>
          </a:bodyPr>
          <a:lstStyle/>
          <a:p>
            <a:pPr algn="l">
              <a:lnSpc>
                <a:spcPct val="115000"/>
              </a:lnSpc>
            </a:pPr>
            <a:r>
              <a:rPr sz="1300" b="0">
                <a:solidFill>
                  <a:srgbClr val="1C2B36"/>
                </a:solidFill>
                <a:latin typeface="Calibri"/>
              </a:rPr>
              <a:t>Bounce-back free drink + one-question why-survey</a:t>
            </a:r>
          </a:p>
        </p:txBody>
      </p:sp>
      <p:sp>
        <p:nvSpPr>
          <p:cNvPr id="22" name="Oval 21"/>
          <p:cNvSpPr/>
          <p:nvPr/>
        </p:nvSpPr>
        <p:spPr>
          <a:xfrm>
            <a:off x="548640" y="4279392"/>
            <a:ext cx="146304" cy="146304"/>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187952"/>
            <a:ext cx="2651760" cy="457200"/>
          </a:xfrm>
          <a:prstGeom prst="rect">
            <a:avLst/>
          </a:prstGeom>
          <a:noFill/>
        </p:spPr>
        <p:txBody>
          <a:bodyPr wrap="square" anchor="t" lIns="0" rIns="0" tIns="0" bIns="0">
            <a:spAutoFit/>
          </a:bodyPr>
          <a:lstStyle/>
          <a:p>
            <a:pPr algn="l">
              <a:lnSpc>
                <a:spcPct val="115000"/>
              </a:lnSpc>
            </a:pPr>
            <a:r>
              <a:rPr sz="1400" b="1">
                <a:solidFill>
                  <a:srgbClr val="1C2B36"/>
                </a:solidFill>
                <a:latin typeface="Calibri"/>
              </a:rPr>
              <a:t>One-and-done</a:t>
            </a:r>
          </a:p>
        </p:txBody>
      </p:sp>
      <p:sp>
        <p:nvSpPr>
          <p:cNvPr id="24" name="TextBox 23"/>
          <p:cNvSpPr txBox="1"/>
          <p:nvPr/>
        </p:nvSpPr>
        <p:spPr>
          <a:xfrm>
            <a:off x="3108960" y="4187952"/>
            <a:ext cx="10058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high</a:t>
            </a:r>
          </a:p>
        </p:txBody>
      </p:sp>
      <p:sp>
        <p:nvSpPr>
          <p:cNvPr id="25" name="TextBox 24"/>
          <p:cNvSpPr txBox="1"/>
          <p:nvPr/>
        </p:nvSpPr>
        <p:spPr>
          <a:xfrm>
            <a:off x="4206240" y="4187952"/>
            <a:ext cx="6766560" cy="457200"/>
          </a:xfrm>
          <a:prstGeom prst="rect">
            <a:avLst/>
          </a:prstGeom>
          <a:noFill/>
        </p:spPr>
        <p:txBody>
          <a:bodyPr wrap="square" anchor="t" lIns="0" rIns="0" tIns="0" bIns="0">
            <a:spAutoFit/>
          </a:bodyPr>
          <a:lstStyle/>
          <a:p>
            <a:pPr algn="l">
              <a:lnSpc>
                <a:spcPct val="115000"/>
              </a:lnSpc>
            </a:pPr>
            <a:r>
              <a:rPr sz="1300" b="0">
                <a:solidFill>
                  <a:srgbClr val="1C2B36"/>
                </a:solidFill>
                <a:latin typeface="Calibri"/>
              </a:rPr>
              <a:t>Onboarding mission, second-visit nudge</a:t>
            </a:r>
          </a:p>
        </p:txBody>
      </p:sp>
      <p:sp>
        <p:nvSpPr>
          <p:cNvPr id="26" name="Rectangle 25"/>
          <p:cNvSpPr/>
          <p:nvPr/>
        </p:nvSpPr>
        <p:spPr>
          <a:xfrm>
            <a:off x="548640" y="4892040"/>
            <a:ext cx="11091672" cy="1554480"/>
          </a:xfrm>
          <a:prstGeom prst="rect">
            <a:avLst/>
          </a:prstGeom>
          <a:solidFill>
            <a:srgbClr val="F7F5F0"/>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056632"/>
            <a:ext cx="10424160" cy="365760"/>
          </a:xfrm>
          <a:prstGeom prst="rect">
            <a:avLst/>
          </a:prstGeom>
          <a:noFill/>
        </p:spPr>
        <p:txBody>
          <a:bodyPr wrap="square" anchor="t" lIns="0" rIns="0" tIns="0" bIns="0">
            <a:spAutoFit/>
          </a:bodyPr>
          <a:lstStyle/>
          <a:p>
            <a:pPr algn="l">
              <a:lnSpc>
                <a:spcPct val="115000"/>
              </a:lnSpc>
            </a:pPr>
            <a:r>
              <a:rPr sz="1400" b="1">
                <a:solidFill>
                  <a:srgbClr val="1F3B57"/>
                </a:solidFill>
                <a:latin typeface="Calibri"/>
              </a:rPr>
              <a:t>Worked example — member M016486</a:t>
            </a:r>
          </a:p>
        </p:txBody>
      </p:sp>
      <p:sp>
        <p:nvSpPr>
          <p:cNvPr id="28" name="TextBox 27"/>
          <p:cNvSpPr txBox="1"/>
          <p:nvPr/>
        </p:nvSpPr>
        <p:spPr>
          <a:xfrm>
            <a:off x="822960" y="5458968"/>
            <a:ext cx="10424160" cy="822960"/>
          </a:xfrm>
          <a:prstGeom prst="rect">
            <a:avLst/>
          </a:prstGeom>
          <a:noFill/>
        </p:spPr>
        <p:txBody>
          <a:bodyPr wrap="square" anchor="t" lIns="0" rIns="0" tIns="0" bIns="0">
            <a:spAutoFit/>
          </a:bodyPr>
          <a:lstStyle/>
          <a:p>
            <a:pPr algn="l">
              <a:lnSpc>
                <a:spcPct val="125000"/>
              </a:lnSpc>
            </a:pPr>
            <a:r>
              <a:rPr sz="1300" b="0">
                <a:solidFill>
                  <a:srgbClr val="1C2B36"/>
                </a:solidFill>
                <a:latin typeface="Calibri"/>
              </a:rPr>
              <a:t>Bronze tier, Champions segment, ฿19,563/year in spend. Typical gap between visits is now 18.2x longer than their own usual pattern (+27 points of risk). Risk: 99.6%. Action: VIP perks, early access to new drinks, referral ask.</a:t>
            </a:r>
          </a:p>
        </p:txBody>
      </p:sp>
      <p:sp>
        <p:nvSpPr>
          <p:cNvPr id="29" name="TextBox 28"/>
          <p:cNvSpPr txBox="1"/>
          <p:nvPr/>
        </p:nvSpPr>
        <p:spPr>
          <a:xfrm>
            <a:off x="548640" y="6400800"/>
            <a:ext cx="5486400" cy="320040"/>
          </a:xfrm>
          <a:prstGeom prst="rect">
            <a:avLst/>
          </a:prstGeom>
          <a:noFill/>
        </p:spPr>
        <p:txBody>
          <a:bodyPr wrap="square" anchor="t" lIns="0" rIns="0" tIns="0" bIns="0">
            <a:spAutoFit/>
          </a:bodyPr>
          <a:lstStyle/>
          <a:p>
            <a:pPr algn="l">
              <a:lnSpc>
                <a:spcPct val="115000"/>
              </a:lnSpc>
            </a:pPr>
            <a:r>
              <a:rPr sz="1000" b="0">
                <a:solidFill>
                  <a:srgbClr val="5B7C99"/>
                </a:solidFill>
                <a:latin typeface="Calibri"/>
              </a:rPr>
              <a:t>Illustrative figures · synthetic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435"/>
        </a:solidFill>
        <a:effectLst/>
      </p:bgPr>
    </p:bg>
    <p:spTree>
      <p:nvGrpSpPr>
        <p:cNvPr id="1" name=""/>
        <p:cNvGrpSpPr/>
        <p:nvPr/>
      </p:nvGrpSpPr>
      <p:grpSpPr/>
      <p:sp>
        <p:nvSpPr>
          <p:cNvPr id="2" name="TextBox 1"/>
          <p:cNvSpPr txBox="1"/>
          <p:nvPr/>
        </p:nvSpPr>
        <p:spPr>
          <a:xfrm>
            <a:off x="548640" y="502920"/>
            <a:ext cx="11094415" cy="1005840"/>
          </a:xfrm>
          <a:prstGeom prst="rect">
            <a:avLst/>
          </a:prstGeom>
          <a:noFill/>
        </p:spPr>
        <p:txBody>
          <a:bodyPr wrap="square" anchor="t" lIns="0" rIns="0" tIns="0" bIns="0">
            <a:spAutoFit/>
          </a:bodyPr>
          <a:lstStyle/>
          <a:p>
            <a:pPr algn="l">
              <a:lnSpc>
                <a:spcPct val="115000"/>
              </a:lnSpc>
            </a:pPr>
            <a:r>
              <a:rPr sz="3200" b="1">
                <a:solidFill>
                  <a:srgbClr val="FFFFFF"/>
                </a:solidFill>
                <a:latin typeface="Cambria"/>
              </a:rPr>
              <a:t>What it's worth, and what's next</a:t>
            </a:r>
          </a:p>
        </p:txBody>
      </p:sp>
      <p:sp>
        <p:nvSpPr>
          <p:cNvPr id="3" name="TextBox 2"/>
          <p:cNvSpPr txBox="1"/>
          <p:nvPr/>
        </p:nvSpPr>
        <p:spPr>
          <a:xfrm>
            <a:off x="548640" y="1645920"/>
            <a:ext cx="237744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Cambria"/>
              </a:rPr>
              <a:t>20,000</a:t>
            </a:r>
          </a:p>
        </p:txBody>
      </p:sp>
      <p:sp>
        <p:nvSpPr>
          <p:cNvPr id="4" name="TextBox 3"/>
          <p:cNvSpPr txBox="1"/>
          <p:nvPr/>
        </p:nvSpPr>
        <p:spPr>
          <a:xfrm>
            <a:off x="548640" y="2423160"/>
            <a:ext cx="23774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total members</a:t>
            </a:r>
          </a:p>
        </p:txBody>
      </p:sp>
      <p:sp>
        <p:nvSpPr>
          <p:cNvPr id="5" name="TextBox 4"/>
          <p:cNvSpPr txBox="1"/>
          <p:nvPr/>
        </p:nvSpPr>
        <p:spPr>
          <a:xfrm>
            <a:off x="2926080" y="1783080"/>
            <a:ext cx="502920" cy="548640"/>
          </a:xfrm>
          <a:prstGeom prst="rect">
            <a:avLst/>
          </a:prstGeom>
          <a:noFill/>
        </p:spPr>
        <p:txBody>
          <a:bodyPr wrap="square" anchor="t" lIns="0" rIns="0" tIns="0" bIns="0">
            <a:spAutoFit/>
          </a:bodyPr>
          <a:lstStyle/>
          <a:p>
            <a:pPr algn="ctr">
              <a:lnSpc>
                <a:spcPct val="115000"/>
              </a:lnSpc>
            </a:pPr>
            <a:r>
              <a:rPr sz="2400" b="0">
                <a:solidFill>
                  <a:srgbClr val="5A7088"/>
                </a:solidFill>
                <a:latin typeface="Calibri"/>
              </a:rPr>
              <a:t>→</a:t>
            </a:r>
          </a:p>
        </p:txBody>
      </p:sp>
      <p:sp>
        <p:nvSpPr>
          <p:cNvPr id="6" name="TextBox 5"/>
          <p:cNvSpPr txBox="1"/>
          <p:nvPr/>
        </p:nvSpPr>
        <p:spPr>
          <a:xfrm>
            <a:off x="3429000" y="1645920"/>
            <a:ext cx="2377440" cy="822960"/>
          </a:xfrm>
          <a:prstGeom prst="rect">
            <a:avLst/>
          </a:prstGeom>
          <a:noFill/>
        </p:spPr>
        <p:txBody>
          <a:bodyPr wrap="square" anchor="t" lIns="0" rIns="0" tIns="0" bIns="0">
            <a:spAutoFit/>
          </a:bodyPr>
          <a:lstStyle/>
          <a:p>
            <a:pPr algn="l">
              <a:lnSpc>
                <a:spcPct val="115000"/>
              </a:lnSpc>
            </a:pPr>
            <a:r>
              <a:rPr sz="3400" b="1">
                <a:solidFill>
                  <a:srgbClr val="2E8B7A"/>
                </a:solidFill>
                <a:latin typeface="Cambria"/>
              </a:rPr>
              <a:t>14,337</a:t>
            </a:r>
          </a:p>
        </p:txBody>
      </p:sp>
      <p:sp>
        <p:nvSpPr>
          <p:cNvPr id="7" name="TextBox 6"/>
          <p:cNvSpPr txBox="1"/>
          <p:nvPr/>
        </p:nvSpPr>
        <p:spPr>
          <a:xfrm>
            <a:off x="3429000" y="2423160"/>
            <a:ext cx="23774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scored by the model</a:t>
            </a:r>
          </a:p>
        </p:txBody>
      </p:sp>
      <p:sp>
        <p:nvSpPr>
          <p:cNvPr id="8" name="TextBox 7"/>
          <p:cNvSpPr txBox="1"/>
          <p:nvPr/>
        </p:nvSpPr>
        <p:spPr>
          <a:xfrm>
            <a:off x="5806440" y="1783080"/>
            <a:ext cx="502920" cy="548640"/>
          </a:xfrm>
          <a:prstGeom prst="rect">
            <a:avLst/>
          </a:prstGeom>
          <a:noFill/>
        </p:spPr>
        <p:txBody>
          <a:bodyPr wrap="square" anchor="t" lIns="0" rIns="0" tIns="0" bIns="0">
            <a:spAutoFit/>
          </a:bodyPr>
          <a:lstStyle/>
          <a:p>
            <a:pPr algn="ctr">
              <a:lnSpc>
                <a:spcPct val="115000"/>
              </a:lnSpc>
            </a:pPr>
            <a:r>
              <a:rPr sz="2400" b="0">
                <a:solidFill>
                  <a:srgbClr val="5A7088"/>
                </a:solidFill>
                <a:latin typeface="Calibri"/>
              </a:rPr>
              <a:t>→</a:t>
            </a:r>
          </a:p>
        </p:txBody>
      </p:sp>
      <p:sp>
        <p:nvSpPr>
          <p:cNvPr id="9" name="TextBox 8"/>
          <p:cNvSpPr txBox="1"/>
          <p:nvPr/>
        </p:nvSpPr>
        <p:spPr>
          <a:xfrm>
            <a:off x="6309360" y="1645920"/>
            <a:ext cx="2377440" cy="822960"/>
          </a:xfrm>
          <a:prstGeom prst="rect">
            <a:avLst/>
          </a:prstGeom>
          <a:noFill/>
        </p:spPr>
        <p:txBody>
          <a:bodyPr wrap="square" anchor="t" lIns="0" rIns="0" tIns="0" bIns="0">
            <a:spAutoFit/>
          </a:bodyPr>
          <a:lstStyle/>
          <a:p>
            <a:pPr algn="l">
              <a:lnSpc>
                <a:spcPct val="115000"/>
              </a:lnSpc>
            </a:pPr>
            <a:r>
              <a:rPr sz="3400" b="1">
                <a:solidFill>
                  <a:srgbClr val="D4A03C"/>
                </a:solidFill>
                <a:latin typeface="Cambria"/>
              </a:rPr>
              <a:t>2,260</a:t>
            </a:r>
          </a:p>
        </p:txBody>
      </p:sp>
      <p:sp>
        <p:nvSpPr>
          <p:cNvPr id="10" name="TextBox 9"/>
          <p:cNvSpPr txBox="1"/>
          <p:nvPr/>
        </p:nvSpPr>
        <p:spPr>
          <a:xfrm>
            <a:off x="6309360" y="2423160"/>
            <a:ext cx="23774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flagged high-risk</a:t>
            </a:r>
          </a:p>
        </p:txBody>
      </p:sp>
      <p:sp>
        <p:nvSpPr>
          <p:cNvPr id="11" name="TextBox 10"/>
          <p:cNvSpPr txBox="1"/>
          <p:nvPr/>
        </p:nvSpPr>
        <p:spPr>
          <a:xfrm>
            <a:off x="8686800" y="1783080"/>
            <a:ext cx="502920" cy="548640"/>
          </a:xfrm>
          <a:prstGeom prst="rect">
            <a:avLst/>
          </a:prstGeom>
          <a:noFill/>
        </p:spPr>
        <p:txBody>
          <a:bodyPr wrap="square" anchor="t" lIns="0" rIns="0" tIns="0" bIns="0">
            <a:spAutoFit/>
          </a:bodyPr>
          <a:lstStyle/>
          <a:p>
            <a:pPr algn="ctr">
              <a:lnSpc>
                <a:spcPct val="115000"/>
              </a:lnSpc>
            </a:pPr>
            <a:r>
              <a:rPr sz="2400" b="0">
                <a:solidFill>
                  <a:srgbClr val="5A7088"/>
                </a:solidFill>
                <a:latin typeface="Calibri"/>
              </a:rPr>
              <a:t>→</a:t>
            </a:r>
          </a:p>
        </p:txBody>
      </p:sp>
      <p:sp>
        <p:nvSpPr>
          <p:cNvPr id="12" name="TextBox 11"/>
          <p:cNvSpPr txBox="1"/>
          <p:nvPr/>
        </p:nvSpPr>
        <p:spPr>
          <a:xfrm>
            <a:off x="9189720" y="1645920"/>
            <a:ext cx="2377440" cy="822960"/>
          </a:xfrm>
          <a:prstGeom prst="rect">
            <a:avLst/>
          </a:prstGeom>
          <a:noFill/>
        </p:spPr>
        <p:txBody>
          <a:bodyPr wrap="square" anchor="t" lIns="0" rIns="0" tIns="0" bIns="0">
            <a:spAutoFit/>
          </a:bodyPr>
          <a:lstStyle/>
          <a:p>
            <a:pPr algn="l">
              <a:lnSpc>
                <a:spcPct val="115000"/>
              </a:lnSpc>
            </a:pPr>
            <a:r>
              <a:rPr sz="3400" b="1">
                <a:solidFill>
                  <a:srgbClr val="D65C4A"/>
                </a:solidFill>
                <a:latin typeface="Cambria"/>
              </a:rPr>
              <a:t>฿5.4M/yr</a:t>
            </a:r>
          </a:p>
        </p:txBody>
      </p:sp>
      <p:sp>
        <p:nvSpPr>
          <p:cNvPr id="13" name="TextBox 12"/>
          <p:cNvSpPr txBox="1"/>
          <p:nvPr/>
        </p:nvSpPr>
        <p:spPr>
          <a:xfrm>
            <a:off x="9189720" y="2423160"/>
            <a:ext cx="2377440" cy="457200"/>
          </a:xfrm>
          <a:prstGeom prst="rect">
            <a:avLst/>
          </a:prstGeom>
          <a:noFill/>
        </p:spPr>
        <p:txBody>
          <a:bodyPr wrap="square" anchor="t" lIns="0" rIns="0" tIns="0" bIns="0">
            <a:spAutoFit/>
          </a:bodyPr>
          <a:lstStyle/>
          <a:p>
            <a:pPr algn="l">
              <a:lnSpc>
                <a:spcPct val="115000"/>
              </a:lnSpc>
            </a:pPr>
            <a:r>
              <a:rPr sz="1300" b="0">
                <a:solidFill>
                  <a:srgbClr val="6E7A8A"/>
                </a:solidFill>
                <a:latin typeface="Calibri"/>
              </a:rPr>
              <a:t>in spend on the line</a:t>
            </a:r>
          </a:p>
        </p:txBody>
      </p:sp>
      <p:sp>
        <p:nvSpPr>
          <p:cNvPr id="14" name="TextBox 13"/>
          <p:cNvSpPr txBox="1"/>
          <p:nvPr/>
        </p:nvSpPr>
        <p:spPr>
          <a:xfrm>
            <a:off x="548640" y="3246120"/>
            <a:ext cx="3931920" cy="365760"/>
          </a:xfrm>
          <a:prstGeom prst="rect">
            <a:avLst/>
          </a:prstGeom>
          <a:noFill/>
        </p:spPr>
        <p:txBody>
          <a:bodyPr wrap="square" anchor="t" lIns="0" rIns="0" tIns="0" bIns="0">
            <a:spAutoFit/>
          </a:bodyPr>
          <a:lstStyle/>
          <a:p>
            <a:pPr algn="l">
              <a:lnSpc>
                <a:spcPct val="115000"/>
              </a:lnSpc>
            </a:pPr>
            <a:r>
              <a:rPr sz="1400" b="1">
                <a:solidFill>
                  <a:srgbClr val="FFFFFF"/>
                </a:solidFill>
                <a:latin typeface="Calibri"/>
              </a:rPr>
              <a:t>To productionize, this needs:</a:t>
            </a:r>
          </a:p>
        </p:txBody>
      </p:sp>
      <p:sp>
        <p:nvSpPr>
          <p:cNvPr id="15" name="TextBox 14"/>
          <p:cNvSpPr txBox="1"/>
          <p:nvPr/>
        </p:nvSpPr>
        <p:spPr>
          <a:xfrm>
            <a:off x="548640" y="3657600"/>
            <a:ext cx="5120640" cy="2377440"/>
          </a:xfrm>
          <a:prstGeom prst="rect">
            <a:avLst/>
          </a:prstGeom>
          <a:noFill/>
        </p:spPr>
        <p:txBody>
          <a:bodyPr wrap="square" lIns="0" rIns="0" tIns="0" bIns="0">
            <a:spAutoFit/>
          </a:bodyPr>
          <a:lstStyle/>
          <a:p>
            <a:pPr algn="l">
              <a:spcAft>
                <a:spcPts val="1000"/>
              </a:spcAft>
            </a:pPr>
            <a:r>
              <a:rPr sz="1400" b="1">
                <a:solidFill>
                  <a:srgbClr val="2E8B7A"/>
                </a:solidFill>
                <a:latin typeface="Calibri"/>
              </a:rPr>
              <a:t>–  </a:t>
            </a:r>
            <a:r>
              <a:rPr sz="1400" b="0">
                <a:solidFill>
                  <a:srgbClr val="C9D4DE"/>
                </a:solidFill>
                <a:latin typeface="Calibri"/>
              </a:rPr>
              <a:t>Oberry's real transaction data, not synthetic</a:t>
            </a:r>
          </a:p>
          <a:p>
            <a:pPr algn="l">
              <a:spcAft>
                <a:spcPts val="1000"/>
              </a:spcAft>
            </a:pPr>
            <a:r>
              <a:rPr sz="1400" b="1">
                <a:solidFill>
                  <a:srgbClr val="2E8B7A"/>
                </a:solidFill>
                <a:latin typeface="Calibri"/>
              </a:rPr>
              <a:t>–  </a:t>
            </a:r>
            <a:r>
              <a:rPr sz="1400" b="0">
                <a:solidFill>
                  <a:srgbClr val="C9D4DE"/>
                </a:solidFill>
                <a:latin typeface="Calibri"/>
              </a:rPr>
              <a:t>A scheduled batch-scoring run, not a one-off</a:t>
            </a:r>
          </a:p>
          <a:p>
            <a:pPr algn="l">
              <a:spcAft>
                <a:spcPts val="1000"/>
              </a:spcAft>
            </a:pPr>
            <a:r>
              <a:rPr sz="1400" b="1">
                <a:solidFill>
                  <a:srgbClr val="2E8B7A"/>
                </a:solidFill>
                <a:latin typeface="Calibri"/>
              </a:rPr>
              <a:t>–  </a:t>
            </a:r>
            <a:r>
              <a:rPr sz="1400" b="0">
                <a:solidFill>
                  <a:srgbClr val="C9D4DE"/>
                </a:solidFill>
                <a:latin typeface="Calibri"/>
              </a:rPr>
              <a:t>Instrumented campaigns with measured lift</a:t>
            </a:r>
          </a:p>
          <a:p>
            <a:pPr algn="l">
              <a:spcAft>
                <a:spcPts val="1000"/>
              </a:spcAft>
            </a:pPr>
            <a:r>
              <a:rPr sz="1400" b="1">
                <a:solidFill>
                  <a:srgbClr val="2E8B7A"/>
                </a:solidFill>
                <a:latin typeface="Calibri"/>
              </a:rPr>
              <a:t>–  </a:t>
            </a:r>
            <a:r>
              <a:rPr sz="1400" b="0">
                <a:solidFill>
                  <a:srgbClr val="C9D4DE"/>
                </a:solidFill>
                <a:latin typeface="Calibri"/>
              </a:rPr>
              <a:t>Ongoing monitoring for model drift</a:t>
            </a:r>
          </a:p>
        </p:txBody>
      </p:sp>
      <p:sp>
        <p:nvSpPr>
          <p:cNvPr id="16" name="TextBox 15"/>
          <p:cNvSpPr txBox="1"/>
          <p:nvPr/>
        </p:nvSpPr>
        <p:spPr>
          <a:xfrm>
            <a:off x="6309360" y="3246120"/>
            <a:ext cx="5120640" cy="2926080"/>
          </a:xfrm>
          <a:prstGeom prst="rect">
            <a:avLst/>
          </a:prstGeom>
          <a:noFill/>
        </p:spPr>
        <p:txBody>
          <a:bodyPr wrap="square" anchor="t" lIns="0" rIns="0" tIns="0" bIns="0">
            <a:spAutoFit/>
          </a:bodyPr>
          <a:lstStyle/>
          <a:p>
            <a:pPr algn="l">
              <a:lnSpc>
                <a:spcPct val="135000"/>
              </a:lnSpc>
            </a:pPr>
            <a:r>
              <a:rPr sz="1500" b="0">
                <a:solidFill>
                  <a:srgbClr val="FFFFFF"/>
                </a:solidFill>
                <a:latin typeface="Calibri"/>
              </a:rPr>
              <a:t>This is a working prototype, validated on synthetic data end to end — the architecture is real and the pipeline runs today. What's unproven is whether these exact patterns hold in Oberry's real transaction history, and that's the next step, not a leap of faith.</a:t>
            </a:r>
          </a:p>
        </p:txBody>
      </p:sp>
      <p:sp>
        <p:nvSpPr>
          <p:cNvPr id="17" name="TextBox 16"/>
          <p:cNvSpPr txBox="1"/>
          <p:nvPr/>
        </p:nvSpPr>
        <p:spPr>
          <a:xfrm>
            <a:off x="548640" y="6400800"/>
            <a:ext cx="5486400" cy="320040"/>
          </a:xfrm>
          <a:prstGeom prst="rect">
            <a:avLst/>
          </a:prstGeom>
          <a:noFill/>
        </p:spPr>
        <p:txBody>
          <a:bodyPr wrap="square" anchor="t" lIns="0" rIns="0" tIns="0" bIns="0">
            <a:spAutoFit/>
          </a:bodyPr>
          <a:lstStyle/>
          <a:p>
            <a:pPr algn="l">
              <a:lnSpc>
                <a:spcPct val="115000"/>
              </a:lnSpc>
            </a:pPr>
            <a:r>
              <a:rPr sz="1000" b="0">
                <a:solidFill>
                  <a:srgbClr val="9AADC2"/>
                </a:solidFill>
                <a:latin typeface="Calibri"/>
              </a:rPr>
              <a:t>Illustrative figures · synthetic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